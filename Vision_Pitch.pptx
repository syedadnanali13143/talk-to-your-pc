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731520"/>
            <a:ext cx="3657600" cy="3657600"/>
          </a:xfrm>
          <a:prstGeom prst="ellipse">
            <a:avLst/>
          </a:prstGeom>
          <a:solidFill>
            <a:srgbClr val="FF5FA0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" y="4343400"/>
            <a:ext cx="3200400" cy="3200400"/>
          </a:xfrm>
          <a:prstGeom prst="ellipse">
            <a:avLst/>
          </a:prstGeom>
          <a:solidFill>
            <a:srgbClr val="3AA5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629400" y="3611880"/>
            <a:ext cx="2286000" cy="2286000"/>
          </a:xfrm>
          <a:prstGeom prst="ellipse">
            <a:avLst/>
          </a:prstGeom>
          <a:solidFill>
            <a:srgbClr val="A855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5FA0"/>
                </a:solidFill>
                <a:latin typeface="Consolas"/>
              </a:rPr>
              <a:t>A NEW KIND OF PERSONAL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0" b="1">
                <a:solidFill>
                  <a:srgbClr val="FFFFFF"/>
                </a:solidFill>
                <a:latin typeface="Segoe UI"/>
              </a:rPr>
              <a:t>Vision.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2336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ECEBFF"/>
                </a:solidFill>
                <a:latin typeface="Segoe UI"/>
              </a:rPr>
              <a:t>The AI that lives with you. Not in the cloud.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463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8B89AA"/>
                </a:solidFill>
                <a:latin typeface="Segoe UI"/>
              </a:rPr>
              <a:t>A pitch for a private, multilingual, wearable second brain.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5852160"/>
            <a:ext cx="1463040" cy="0"/>
          </a:xfrm>
          <a:prstGeom prst="line">
            <a:avLst/>
          </a:prstGeom>
          <a:ln w="38100">
            <a:solidFill>
              <a:srgbClr val="FF5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B89AA"/>
                </a:solidFill>
                <a:latin typeface="Consolas"/>
              </a:rPr>
              <a:t>By Syed Adnan Ali  ·  Karachi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182880"/>
            <a:ext cx="3291840" cy="3291840"/>
          </a:xfrm>
          <a:prstGeom prst="ellipse">
            <a:avLst/>
          </a:prstGeom>
          <a:solidFill>
            <a:srgbClr val="FF5FA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5FA0"/>
                </a:solidFill>
                <a:latin typeface="Consolas"/>
              </a:rPr>
              <a:t>PROBLEM  / 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>
                <a:solidFill>
                  <a:srgbClr val="FFFFFF"/>
                </a:solidFill>
                <a:latin typeface="Segoe UI"/>
              </a:rPr>
              <a:t>Human memory leaks.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>
                <a:solidFill>
                  <a:srgbClr val="ECEBFF"/>
                </a:solidFill>
                <a:latin typeface="Segoe UI"/>
              </a:rPr>
              <a:t>Studies show people forget 70% of what was discussed in meetings within 24 hours. Action items, names, decisions — gone.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>
                <a:solidFill>
                  <a:srgbClr val="8B89AA"/>
                </a:solidFill>
                <a:latin typeface="Segoe UI"/>
              </a:rPr>
              <a:t>Notes don't fix it. Taking them is the bottleneck.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754880"/>
            <a:ext cx="4114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6000" b="1">
                <a:solidFill>
                  <a:srgbClr val="FF5FA0"/>
                </a:solidFill>
                <a:latin typeface="Segoe UI"/>
              </a:rPr>
              <a:t>70%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4008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5878"/>
                </a:solidFill>
                <a:latin typeface="Consolas"/>
              </a:rPr>
              <a:t>FORGOTTEN  ·  WITHIN 24 HRS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5878"/>
                </a:solidFill>
                <a:latin typeface="Consolas"/>
              </a:rPr>
              <a:t>02 / 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5878"/>
                </a:solidFill>
                <a:latin typeface="Consolas"/>
              </a:rPr>
              <a:t>VISION  ·  Investor Pitch  ·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4114800"/>
            <a:ext cx="2743200" cy="2743200"/>
          </a:xfrm>
          <a:prstGeom prst="ellipse">
            <a:avLst/>
          </a:prstGeom>
          <a:solidFill>
            <a:srgbClr val="3AA5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5FA0"/>
                </a:solidFill>
                <a:latin typeface="Consolas"/>
              </a:rPr>
              <a:t>PROBLEM  /  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>
                <a:solidFill>
                  <a:srgbClr val="FFFFFF"/>
                </a:solidFill>
                <a:latin typeface="Segoe UI"/>
              </a:rPr>
              <a:t>Cloud AI listens.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>
                <a:solidFill>
                  <a:srgbClr val="ECEBFF"/>
                </a:solidFill>
                <a:latin typeface="Segoe UI"/>
              </a:rPr>
              <a:t>Every word you whisper to Siri, Alexa, ChatGPT, Pi — leaves your device. Stored on someone else's server. Trained on. Subpoena-able.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FF5FA0"/>
                </a:solidFill>
                <a:latin typeface="Segoe UI"/>
              </a:rPr>
              <a:t>The price of a smart assistant today is your privacy.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57784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1A1028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300">
                <a:solidFill>
                  <a:srgbClr val="F87171"/>
                </a:solidFill>
                <a:latin typeface="Consolas"/>
              </a:rPr>
              <a:t>→  openai.com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79" y="557784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1A1028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300">
                <a:solidFill>
                  <a:srgbClr val="F87171"/>
                </a:solidFill>
                <a:latin typeface="Consolas"/>
              </a:rPr>
              <a:t>→  amazon.com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557784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1A1028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300">
                <a:solidFill>
                  <a:srgbClr val="F87171"/>
                </a:solidFill>
                <a:latin typeface="Consolas"/>
              </a:rPr>
              <a:t>→  google.com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557784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1A1028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300">
                <a:solidFill>
                  <a:srgbClr val="F87171"/>
                </a:solidFill>
                <a:latin typeface="Consolas"/>
              </a:rPr>
              <a:t>→  apple.com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5878"/>
                </a:solidFill>
                <a:latin typeface="Consolas"/>
              </a:rPr>
              <a:t>03 / 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5878"/>
                </a:solidFill>
                <a:latin typeface="Consolas"/>
              </a:rPr>
              <a:t>VISION  ·  Investor Pitch  ·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640080"/>
            <a:ext cx="4572000" cy="4572000"/>
          </a:xfrm>
          <a:prstGeom prst="ellipse">
            <a:avLst/>
          </a:prstGeom>
          <a:solidFill>
            <a:srgbClr val="FF5FA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1554480"/>
            <a:ext cx="2743200" cy="2743200"/>
          </a:xfrm>
          <a:prstGeom prst="ellipse">
            <a:avLst/>
          </a:prstGeom>
          <a:solidFill>
            <a:srgbClr val="FFB3D4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85800" y="-685800"/>
            <a:ext cx="2286000" cy="2286000"/>
          </a:xfrm>
          <a:prstGeom prst="ellipse">
            <a:avLst/>
          </a:prstGeom>
          <a:solidFill>
            <a:srgbClr val="3AA5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31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5FA0"/>
                </a:solidFill>
                <a:latin typeface="Consolas"/>
              </a:rPr>
              <a:t>OUR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88720"/>
            <a:ext cx="91440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800" b="1">
                <a:solidFill>
                  <a:srgbClr val="FFFFFF"/>
                </a:solidFill>
                <a:latin typeface="Segoe UI"/>
              </a:rPr>
              <a:t>A second brain.
Worn on you.
Loyal to you only.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9144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>
                <a:solidFill>
                  <a:srgbClr val="ECEBFF"/>
                </a:solidFill>
                <a:latin typeface="Segoe UI"/>
              </a:rPr>
              <a:t>An assistant that hears your day, remembers your context, runs on your body — and never broadcasts a syllable to the cloud.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5878"/>
                </a:solidFill>
                <a:latin typeface="Consolas"/>
              </a:rPr>
              <a:t>04 /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5878"/>
                </a:solidFill>
                <a:latin typeface="Consolas"/>
              </a:rPr>
              <a:t>VISION  ·  Investor Pitch  ·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15400" y="4800600"/>
            <a:ext cx="3200400" cy="3200400"/>
          </a:xfrm>
          <a:prstGeom prst="ellipse">
            <a:avLst/>
          </a:prstGeom>
          <a:solidFill>
            <a:srgbClr val="3AD4A8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5FA0"/>
                </a:solidFill>
                <a:latin typeface="Consolas"/>
              </a:rPr>
              <a:t>WHERE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Today: a working POC on a Windows laptop.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8B89AA"/>
                </a:solidFill>
                <a:latin typeface="Segoe UI"/>
              </a:rPr>
              <a:t>Stack tested. Privacy proven. Ready for the next form factor.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364992"/>
            <a:ext cx="164592" cy="164592"/>
          </a:xfrm>
          <a:prstGeom prst="ellipse">
            <a:avLst/>
          </a:prstGeom>
          <a:solidFill>
            <a:srgbClr val="FF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2004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100%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32004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CEBFF"/>
                </a:solidFill>
                <a:latin typeface="Segoe UI"/>
              </a:rPr>
              <a:t>Ollama qwen2.5:7b LLM, faster-whisper STT, Piper neural TTS — all on-device.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959352"/>
            <a:ext cx="164592" cy="164592"/>
          </a:xfrm>
          <a:prstGeom prst="ellipse">
            <a:avLst/>
          </a:prstGeom>
          <a:solidFill>
            <a:srgbClr val="FF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7947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Multilingual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79476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CEBFF"/>
                </a:solidFill>
                <a:latin typeface="Segoe UI"/>
              </a:rPr>
              <a:t>English, Roman English (Karachi-style Urdu), and Urdu script.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553712"/>
            <a:ext cx="164592" cy="164592"/>
          </a:xfrm>
          <a:prstGeom prst="ellipse">
            <a:avLst/>
          </a:prstGeom>
          <a:solidFill>
            <a:srgbClr val="FF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3891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Animated avatar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43891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CEBFF"/>
                </a:solidFill>
                <a:latin typeface="Segoe UI"/>
              </a:rPr>
              <a:t>Phoneme-accurate lip sync, audio-amplitude-driven face expression.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5148072"/>
            <a:ext cx="164592" cy="164592"/>
          </a:xfrm>
          <a:prstGeom prst="ellipse">
            <a:avLst/>
          </a:prstGeom>
          <a:solidFill>
            <a:srgbClr val="FF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9834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Voice-driven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98348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CEBFF"/>
                </a:solidFill>
                <a:latin typeface="Segoe UI"/>
              </a:rPr>
              <a:t>Opens apps, runs web searches, creates folders / files — all by voice.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5742432"/>
            <a:ext cx="164592" cy="164592"/>
          </a:xfrm>
          <a:prstGeom prst="ellipse">
            <a:avLst/>
          </a:prstGeom>
          <a:solidFill>
            <a:srgbClr val="FF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5778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Built solo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57784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CEBFF"/>
                </a:solidFill>
                <a:latin typeface="Segoe UI"/>
              </a:rPr>
              <a:t>One developer, three months, on a 4 GB GTX 1650 laptop.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5878"/>
                </a:solidFill>
                <a:latin typeface="Consolas"/>
              </a:rPr>
              <a:t>05 / 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5878"/>
                </a:solidFill>
                <a:latin typeface="Consolas"/>
              </a:rPr>
              <a:t>VISION  ·  Investor Pitch  ·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5FA0"/>
                </a:solidFill>
                <a:latin typeface="Consolas"/>
              </a:rPr>
              <a:t>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What it does — today.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3566160" cy="2011680"/>
          </a:xfrm>
          <a:prstGeom prst="roundRect">
            <a:avLst>
              <a:gd name="adj" fmla="val 5000"/>
            </a:avLst>
          </a:prstGeom>
          <a:solidFill>
            <a:srgbClr val="141028"/>
          </a:solidFill>
          <a:ln w="12700">
            <a:solidFill>
              <a:srgbClr val="2A2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468880"/>
            <a:ext cx="3566160" cy="91440"/>
          </a:xfrm>
          <a:prstGeom prst="rect">
            <a:avLst/>
          </a:prstGeom>
          <a:solidFill>
            <a:srgbClr val="3A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3AA5FF"/>
                </a:solidFill>
                <a:latin typeface="Segoe UI"/>
              </a:rPr>
              <a:t>LISTEN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3756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ECEBFF"/>
                </a:solidFill>
                <a:latin typeface="Segoe UI"/>
              </a:rPr>
              <a:t>Offline STT via Whisper-small. English + Roman English + Urdu.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468880"/>
            <a:ext cx="3566160" cy="2011680"/>
          </a:xfrm>
          <a:prstGeom prst="roundRect">
            <a:avLst>
              <a:gd name="adj" fmla="val 5000"/>
            </a:avLst>
          </a:prstGeom>
          <a:solidFill>
            <a:srgbClr val="141028"/>
          </a:solidFill>
          <a:ln w="12700">
            <a:solidFill>
              <a:srgbClr val="2A2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2468880"/>
            <a:ext cx="3566160" cy="91440"/>
          </a:xfrm>
          <a:prstGeom prst="rect">
            <a:avLst/>
          </a:prstGeom>
          <a:solidFill>
            <a:srgbClr val="FF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7889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5FA0"/>
                </a:solidFill>
                <a:latin typeface="Segoe UI"/>
              </a:rPr>
              <a:t>THINK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33756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ECEBFF"/>
                </a:solidFill>
                <a:latin typeface="Segoe UI"/>
              </a:rPr>
              <a:t>Local 7B LLM via Ollama. No API keys. No internet at runtime.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468880"/>
            <a:ext cx="3566160" cy="2011680"/>
          </a:xfrm>
          <a:prstGeom prst="roundRect">
            <a:avLst>
              <a:gd name="adj" fmla="val 5000"/>
            </a:avLst>
          </a:prstGeom>
          <a:solidFill>
            <a:srgbClr val="141028"/>
          </a:solidFill>
          <a:ln w="12700">
            <a:solidFill>
              <a:srgbClr val="2A2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2468880"/>
            <a:ext cx="3566160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7889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A855F7"/>
                </a:solidFill>
                <a:latin typeface="Segoe UI"/>
              </a:rPr>
              <a:t>SPEAK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33756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ECEBFF"/>
                </a:solidFill>
                <a:latin typeface="Segoe UI"/>
              </a:rPr>
              <a:t>Neural Piper TTS. Mood-driven prosody. Per-sentence expression.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617720"/>
            <a:ext cx="3566160" cy="2011680"/>
          </a:xfrm>
          <a:prstGeom prst="roundRect">
            <a:avLst>
              <a:gd name="adj" fmla="val 5000"/>
            </a:avLst>
          </a:prstGeom>
          <a:solidFill>
            <a:srgbClr val="141028"/>
          </a:solidFill>
          <a:ln w="12700">
            <a:solidFill>
              <a:srgbClr val="2A2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4617720"/>
            <a:ext cx="3566160" cy="91440"/>
          </a:xfrm>
          <a:prstGeom prst="rect">
            <a:avLst/>
          </a:prstGeom>
          <a:solidFill>
            <a:srgbClr val="FFB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9377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B13A"/>
                </a:solidFill>
                <a:latin typeface="Segoe UI"/>
              </a:rPr>
              <a:t>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48640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ECEBFF"/>
                </a:solidFill>
                <a:latin typeface="Segoe UI"/>
              </a:rPr>
              <a:t>Tool calls: open apps, web search, create files / folders.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4617720"/>
            <a:ext cx="3566160" cy="2011680"/>
          </a:xfrm>
          <a:prstGeom prst="roundRect">
            <a:avLst>
              <a:gd name="adj" fmla="val 5000"/>
            </a:avLst>
          </a:prstGeom>
          <a:solidFill>
            <a:srgbClr val="141028"/>
          </a:solidFill>
          <a:ln w="12700">
            <a:solidFill>
              <a:srgbClr val="2A2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26280" y="4617720"/>
            <a:ext cx="3566160" cy="91440"/>
          </a:xfrm>
          <a:prstGeom prst="rect">
            <a:avLst/>
          </a:prstGeom>
          <a:solidFill>
            <a:srgbClr val="3A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49377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3AD4A8"/>
                </a:solidFill>
                <a:latin typeface="Segoe UI"/>
              </a:rPr>
              <a:t>EXPRESS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548640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ECEBFF"/>
                </a:solidFill>
                <a:latin typeface="Segoe UI"/>
              </a:rPr>
              <a:t>5 personalities. Animated avatar. Phoneme-level lip sync.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617720"/>
            <a:ext cx="3566160" cy="2011680"/>
          </a:xfrm>
          <a:prstGeom prst="roundRect">
            <a:avLst>
              <a:gd name="adj" fmla="val 5000"/>
            </a:avLst>
          </a:prstGeom>
          <a:solidFill>
            <a:srgbClr val="141028"/>
          </a:solidFill>
          <a:ln w="12700">
            <a:solidFill>
              <a:srgbClr val="2A2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4617720"/>
            <a:ext cx="3566160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49377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4ADE80"/>
                </a:solidFill>
                <a:latin typeface="Segoe UI"/>
              </a:rPr>
              <a:t>PRIVATE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48640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ECEBFF"/>
                </a:solidFill>
                <a:latin typeface="Segoe UI"/>
              </a:rPr>
              <a:t>Zero cloud calls at runtime. Conversation lives in RAM only.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5878"/>
                </a:solidFill>
                <a:latin typeface="Consolas"/>
              </a:rPr>
              <a:t>06 / 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5878"/>
                </a:solidFill>
                <a:latin typeface="Consolas"/>
              </a:rPr>
              <a:t>VISION  ·  Investor Pitch  · 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72600" y="-685800"/>
            <a:ext cx="3200400" cy="3200400"/>
          </a:xfrm>
          <a:prstGeom prst="ellipse">
            <a:avLst/>
          </a:prstGeom>
          <a:solidFill>
            <a:srgbClr val="A855F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5FA0"/>
                </a:solidFill>
                <a:latin typeface="Consolas"/>
              </a:rPr>
              <a:t>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The hard parts we've already shipped.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514600"/>
            <a:ext cx="292608" cy="292608"/>
          </a:xfrm>
          <a:prstGeom prst="ellipse">
            <a:avLst/>
          </a:prstGeom>
          <a:solidFill>
            <a:srgbClr val="FF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5146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468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Roman English 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9806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8B89AA"/>
                </a:solidFill>
                <a:latin typeface="Segoe UI"/>
              </a:rPr>
              <a:t>Karachi-style "tum kaisy ho", "kya haal hai" — 3-marker auto-detect with strict pinning.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154680"/>
            <a:ext cx="292608" cy="292608"/>
          </a:xfrm>
          <a:prstGeom prst="ellipse">
            <a:avLst/>
          </a:prstGeom>
          <a:solidFill>
            <a:srgbClr val="FF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15468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108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Phoneme-aligned lip sync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3814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8B89AA"/>
                </a:solidFill>
                <a:latin typeface="Segoe UI"/>
              </a:rPr>
              <a:t>Each Piper-emitted phoneme gets a viseme + scaled mouth opening from audio amplitude.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794760"/>
            <a:ext cx="292608" cy="292608"/>
          </a:xfrm>
          <a:prstGeom prst="ellipse">
            <a:avLst/>
          </a:prstGeom>
          <a:solidFill>
            <a:srgbClr val="FF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79476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Per-sentence prosody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07822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8B89AA"/>
                </a:solidFill>
                <a:latin typeface="Segoe UI"/>
              </a:rPr>
              <a:t>Questions lift, exclamations punch, emotional words mellow. Voice tracks the message.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434840"/>
            <a:ext cx="292608" cy="292608"/>
          </a:xfrm>
          <a:prstGeom prst="ellipse">
            <a:avLst/>
          </a:prstGeom>
          <a:solidFill>
            <a:srgbClr val="FF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443484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389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Mood × language ×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71830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8B89AA"/>
                </a:solidFill>
                <a:latin typeface="Segoe UI"/>
              </a:rPr>
              <a:t>5 personalities × 3 language pins × 6 PC actions, all coherent in one system prompt.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5074920"/>
            <a:ext cx="292608" cy="292608"/>
          </a:xfrm>
          <a:prstGeom prst="ellipse">
            <a:avLst/>
          </a:prstGeom>
          <a:solidFill>
            <a:srgbClr val="FF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50749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029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CPU-only voice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35838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8B89AA"/>
                </a:solidFill>
                <a:latin typeface="Segoe UI"/>
              </a:rPr>
              <a:t>End-to-end mic → whisper → qwen → piper → speakers in ~3-5 seconds on a 4 GB laptop.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" y="5715000"/>
            <a:ext cx="292608" cy="292608"/>
          </a:xfrm>
          <a:prstGeom prst="ellipse">
            <a:avLst/>
          </a:prstGeom>
          <a:solidFill>
            <a:srgbClr val="FF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57150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669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Setup automation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599846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8B89AA"/>
                </a:solidFill>
                <a:latin typeface="Segoe UI"/>
              </a:rPr>
              <a:t>One double-click installs everything — works on any fresh Windows machine.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5878"/>
                </a:solidFill>
                <a:latin typeface="Consolas"/>
              </a:rPr>
              <a:t>07 / 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5878"/>
                </a:solidFill>
                <a:latin typeface="Consolas"/>
              </a:rPr>
              <a:t>VISION  ·  Investor Pitch  · 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-685800"/>
            <a:ext cx="2286000" cy="2286000"/>
          </a:xfrm>
          <a:prstGeom prst="ellipse">
            <a:avLst/>
          </a:prstGeom>
          <a:solidFill>
            <a:srgbClr val="FF5FA0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4800600"/>
            <a:ext cx="3200400" cy="3200400"/>
          </a:xfrm>
          <a:prstGeom prst="ellipse">
            <a:avLst/>
          </a:prstGeom>
          <a:solidFill>
            <a:srgbClr val="3AA5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5FA0"/>
                </a:solidFill>
                <a:latin typeface="Consolas"/>
              </a:rPr>
              <a:t>WHY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Three forces, just now aligning.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86000"/>
            <a:ext cx="3611880" cy="3840480"/>
          </a:xfrm>
          <a:prstGeom prst="roundRect">
            <a:avLst>
              <a:gd name="adj" fmla="val 4000"/>
            </a:avLst>
          </a:prstGeom>
          <a:solidFill>
            <a:srgbClr val="140F2A"/>
          </a:solidFill>
          <a:ln w="12700">
            <a:solidFill>
              <a:srgbClr val="2A2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651760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5FA0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Models shrunk.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480560"/>
            <a:ext cx="30632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ECEBFF"/>
                </a:solidFill>
                <a:latin typeface="Segoe UI"/>
              </a:rPr>
              <a:t>7B-parameter LLMs now match GPT-3.5 quality. They run on a phone.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286000"/>
            <a:ext cx="3611880" cy="3840480"/>
          </a:xfrm>
          <a:prstGeom prst="roundRect">
            <a:avLst>
              <a:gd name="adj" fmla="val 4000"/>
            </a:avLst>
          </a:prstGeom>
          <a:solidFill>
            <a:srgbClr val="140F2A"/>
          </a:solidFill>
          <a:ln w="12700">
            <a:solidFill>
              <a:srgbClr val="2A2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2651760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3AA5FF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56616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Edge AI matured.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4480560"/>
            <a:ext cx="30632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ECEBFF"/>
                </a:solidFill>
                <a:latin typeface="Segoe UI"/>
              </a:rPr>
              <a:t>NPUs in iPhones, Snapdragon X, Pi 5, Coral. Cheap, low-power inference.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286000"/>
            <a:ext cx="3611880" cy="3840480"/>
          </a:xfrm>
          <a:prstGeom prst="roundRect">
            <a:avLst>
              <a:gd name="adj" fmla="val 4000"/>
            </a:avLst>
          </a:prstGeom>
          <a:solidFill>
            <a:srgbClr val="140F2A"/>
          </a:solidFill>
          <a:ln w="12700">
            <a:solidFill>
              <a:srgbClr val="2A2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2651760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A855F7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56616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Privacy snapped.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4480560"/>
            <a:ext cx="30632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ECEBFF"/>
                </a:solidFill>
                <a:latin typeface="Segoe UI"/>
              </a:rPr>
              <a:t>Every breach makes users wary of cloud AI. Local is the new luxury.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5878"/>
                </a:solidFill>
                <a:latin typeface="Consolas"/>
              </a:rPr>
              <a:t>08 / 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5878"/>
                </a:solidFill>
                <a:latin typeface="Consolas"/>
              </a:rPr>
              <a:t>VISION  ·  Investor Pitch  · 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1000" y="228600"/>
            <a:ext cx="4114800" cy="4114800"/>
          </a:xfrm>
          <a:prstGeom prst="ellipse">
            <a:avLst/>
          </a:prstGeom>
          <a:solidFill>
            <a:srgbClr val="FF5FA0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5FA0"/>
                </a:solidFill>
                <a:latin typeface="Consolas"/>
              </a:rPr>
              <a:t>TOMORROW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>
                <a:solidFill>
                  <a:srgbClr val="FFFFFF"/>
                </a:solidFill>
                <a:latin typeface="Segoe UI"/>
              </a:rPr>
              <a:t>Beyond the laptop.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>
                <a:solidFill>
                  <a:srgbClr val="ECEBFF"/>
                </a:solidFill>
                <a:latin typeface="Segoe UI"/>
              </a:rPr>
              <a:t>We're at POC because the hardware to wear it doesn't exist — yet. But it's months, not years, away.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23360"/>
            <a:ext cx="3611880" cy="2468880"/>
          </a:xfrm>
          <a:prstGeom prst="roundRect">
            <a:avLst>
              <a:gd name="adj" fmla="val 6000"/>
            </a:avLst>
          </a:prstGeom>
          <a:solidFill>
            <a:srgbClr val="140F2A"/>
          </a:solidFill>
          <a:ln w="19050">
            <a:solidFill>
              <a:srgbClr val="FF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566160" y="4251960"/>
            <a:ext cx="640080" cy="640080"/>
          </a:xfrm>
          <a:prstGeom prst="ellipse">
            <a:avLst/>
          </a:prstGeom>
          <a:solidFill>
            <a:srgbClr val="FF5FA0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389120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5FA0"/>
                </a:solidFill>
                <a:latin typeface="Segoe UI"/>
              </a:rPr>
              <a:t>PENDANT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029200"/>
            <a:ext cx="3063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ECEBFF"/>
                </a:solidFill>
                <a:latin typeface="Segoe UI"/>
              </a:rPr>
              <a:t>Hangs around the neck. Mic + speaker + small NPU. Always within earshot.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4023360"/>
            <a:ext cx="3611880" cy="2468880"/>
          </a:xfrm>
          <a:prstGeom prst="roundRect">
            <a:avLst>
              <a:gd name="adj" fmla="val 6000"/>
            </a:avLst>
          </a:prstGeom>
          <a:solidFill>
            <a:srgbClr val="140F2A"/>
          </a:solidFill>
          <a:ln w="19050">
            <a:solidFill>
              <a:srgbClr val="3AA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0" y="4251960"/>
            <a:ext cx="640080" cy="640080"/>
          </a:xfrm>
          <a:prstGeom prst="ellipse">
            <a:avLst/>
          </a:prstGeom>
          <a:solidFill>
            <a:srgbClr val="3AA5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4389120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3AA5FF"/>
                </a:solidFill>
                <a:latin typeface="Segoe UI"/>
              </a:rPr>
              <a:t>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5029200"/>
            <a:ext cx="3063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ECEBFF"/>
                </a:solidFill>
                <a:latin typeface="Segoe UI"/>
              </a:rPr>
              <a:t>Ambient capture. Tap to query. Discreet. Day-long battery.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4023360"/>
            <a:ext cx="3611880" cy="2468880"/>
          </a:xfrm>
          <a:prstGeom prst="roundRect">
            <a:avLst>
              <a:gd name="adj" fmla="val 6000"/>
            </a:avLst>
          </a:prstGeom>
          <a:solidFill>
            <a:srgbClr val="140F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064240" y="4251960"/>
            <a:ext cx="640080" cy="640080"/>
          </a:xfrm>
          <a:prstGeom prst="ellipse">
            <a:avLst/>
          </a:prstGeom>
          <a:solidFill>
            <a:srgbClr val="A855F7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4389120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A855F7"/>
                </a:solidFill>
                <a:latin typeface="Segoe UI"/>
              </a:rPr>
              <a:t>EARPIECE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5029200"/>
            <a:ext cx="3063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ECEBFF"/>
                </a:solidFill>
                <a:latin typeface="Segoe UI"/>
              </a:rPr>
              <a:t>Voice-only. AirPod-style. Brief responses, hands-free workflow.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5878"/>
                </a:solidFill>
                <a:latin typeface="Consolas"/>
              </a:rPr>
              <a:t>09 / 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5878"/>
                </a:solidFill>
                <a:latin typeface="Consolas"/>
              </a:rPr>
              <a:t>VISION  ·  Investor Pitch  · 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486400"/>
            <a:ext cx="2743200" cy="2743200"/>
          </a:xfrm>
          <a:prstGeom prst="ellipse">
            <a:avLst/>
          </a:prstGeom>
          <a:solidFill>
            <a:srgbClr val="3AA5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5FA0"/>
                </a:solidFill>
                <a:latin typeface="Consolas"/>
              </a:rPr>
              <a:t>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Your second brain, on you.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23160"/>
            <a:ext cx="45720" cy="457200"/>
          </a:xfrm>
          <a:prstGeom prst="rect">
            <a:avLst/>
          </a:prstGeom>
          <a:solidFill>
            <a:srgbClr val="FF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FFFFF"/>
                </a:solidFill>
                <a:latin typeface="Segoe UI"/>
              </a:rPr>
              <a:t>"What did Ali say in Friday's meeting?"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017520"/>
            <a:ext cx="45720" cy="457200"/>
          </a:xfrm>
          <a:prstGeom prst="rect">
            <a:avLst/>
          </a:prstGeom>
          <a:solidFill>
            <a:srgbClr val="FF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FFFFF"/>
                </a:solidFill>
                <a:latin typeface="Segoe UI"/>
              </a:rPr>
              <a:t>"Read me my action items from yesterday."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11880"/>
            <a:ext cx="45720" cy="457200"/>
          </a:xfrm>
          <a:prstGeom prst="rect">
            <a:avLst/>
          </a:prstGeom>
          <a:solidFill>
            <a:srgbClr val="FF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FFFFF"/>
                </a:solidFill>
                <a:latin typeface="Segoe UI"/>
              </a:rPr>
              <a:t>"Friday morning, remind me to call Mom."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206240"/>
            <a:ext cx="45720" cy="457200"/>
          </a:xfrm>
          <a:prstGeom prst="rect">
            <a:avLst/>
          </a:prstGeom>
          <a:solidFill>
            <a:srgbClr val="FF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1605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FFFFF"/>
                </a:solidFill>
                <a:latin typeface="Segoe UI"/>
              </a:rPr>
              <a:t>"Tell Farhan I'm running ten minutes late."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800600"/>
            <a:ext cx="45720" cy="457200"/>
          </a:xfrm>
          <a:prstGeom prst="rect">
            <a:avLst/>
          </a:prstGeom>
          <a:solidFill>
            <a:srgbClr val="FF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754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FFFFF"/>
                </a:solidFill>
                <a:latin typeface="Segoe UI"/>
              </a:rPr>
              <a:t>"What's the Wi-Fi password for the office?"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394960"/>
            <a:ext cx="45720" cy="457200"/>
          </a:xfrm>
          <a:prstGeom prst="rect">
            <a:avLst/>
          </a:prstGeom>
          <a:solidFill>
            <a:srgbClr val="FF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3492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FFFFF"/>
                </a:solidFill>
                <a:latin typeface="Segoe UI"/>
              </a:rPr>
              <a:t>"Summarize the call I just had with the client."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5FA0"/>
                </a:solidFill>
                <a:latin typeface="Segoe UI"/>
              </a:rPr>
              <a:t>Result: never forget. Never search. Always present.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5878"/>
                </a:solidFill>
                <a:latin typeface="Consolas"/>
              </a:rPr>
              <a:t>10 / 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5878"/>
                </a:solidFill>
                <a:latin typeface="Consolas"/>
              </a:rPr>
              <a:t>VISION  ·  Investor Pitch  · 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26080" y="457200"/>
            <a:ext cx="6400800" cy="6400800"/>
          </a:xfrm>
          <a:prstGeom prst="ellipse">
            <a:avLst/>
          </a:prstGeom>
          <a:solidFill>
            <a:srgbClr val="FF5FA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069080" y="1600200"/>
            <a:ext cx="4114800" cy="4114800"/>
          </a:xfrm>
          <a:prstGeom prst="ellipse">
            <a:avLst/>
          </a:prstGeom>
          <a:solidFill>
            <a:srgbClr val="FFB3D4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5FA0"/>
                </a:solidFill>
                <a:latin typeface="Consolas"/>
              </a:rPr>
              <a:t>OUR USP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Three things our competitors can't say.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51760"/>
            <a:ext cx="3611880" cy="3383280"/>
          </a:xfrm>
          <a:prstGeom prst="roundRect">
            <a:avLst>
              <a:gd name="adj" fmla="val 8000"/>
            </a:avLst>
          </a:prstGeom>
          <a:solidFill>
            <a:srgbClr val="100A22"/>
          </a:solidFill>
          <a:ln w="25400">
            <a:solidFill>
              <a:srgbClr val="FF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3611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>
                <a:solidFill>
                  <a:srgbClr val="FF5FA0"/>
                </a:solidFill>
                <a:latin typeface="Segoe UI"/>
              </a:rPr>
              <a:t>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663440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>
                <a:solidFill>
                  <a:srgbClr val="ECEBFF"/>
                </a:solidFill>
                <a:latin typeface="Segoe UI"/>
              </a:rPr>
              <a:t>Runs on-device. Works without internet. No API keys, ever.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651760"/>
            <a:ext cx="3611880" cy="3383280"/>
          </a:xfrm>
          <a:prstGeom prst="roundRect">
            <a:avLst>
              <a:gd name="adj" fmla="val 8000"/>
            </a:avLst>
          </a:prstGeom>
          <a:solidFill>
            <a:srgbClr val="100A22"/>
          </a:solidFill>
          <a:ln w="25400">
            <a:solidFill>
              <a:srgbClr val="3AA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3291840"/>
            <a:ext cx="3611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>
                <a:solidFill>
                  <a:srgbClr val="3AA5FF"/>
                </a:solidFill>
                <a:latin typeface="Segoe UI"/>
              </a:rPr>
              <a:t>PRIVATE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4663440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>
                <a:solidFill>
                  <a:srgbClr val="ECEBFF"/>
                </a:solidFill>
                <a:latin typeface="Segoe UI"/>
              </a:rPr>
              <a:t>Zero cloud calls. No telemetry. Your voice never trains anyone's model.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651760"/>
            <a:ext cx="3611880" cy="3383280"/>
          </a:xfrm>
          <a:prstGeom prst="roundRect">
            <a:avLst>
              <a:gd name="adj" fmla="val 8000"/>
            </a:avLst>
          </a:prstGeom>
          <a:solidFill>
            <a:srgbClr val="100A22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3291840"/>
            <a:ext cx="3611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>
                <a:solidFill>
                  <a:srgbClr val="A855F7"/>
                </a:solidFill>
                <a:latin typeface="Segoe UI"/>
              </a:rPr>
              <a:t>YOURS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663440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>
                <a:solidFill>
                  <a:srgbClr val="ECEBFF"/>
                </a:solidFill>
                <a:latin typeface="Segoe UI"/>
              </a:rPr>
              <a:t>Open architecture. No subscription gate. Yours to own forever.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5878"/>
                </a:solidFill>
                <a:latin typeface="Consolas"/>
              </a:rPr>
              <a:t>11 / 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5878"/>
                </a:solidFill>
                <a:latin typeface="Consolas"/>
              </a:rPr>
              <a:t>VISION  ·  Investor Pitch  · 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5FA0"/>
                </a:solidFill>
                <a:latin typeface="Consolas"/>
              </a:rPr>
              <a:t>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Why we win.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B89AA"/>
                </a:solidFill>
                <a:latin typeface="Consolas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3931920" y="2304288"/>
            <a:ext cx="1325880" cy="73152"/>
          </a:xfrm>
          <a:prstGeom prst="rect">
            <a:avLst/>
          </a:prstGeom>
          <a:solidFill>
            <a:srgbClr val="FF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0" y="237744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5FA0"/>
                </a:solidFill>
                <a:latin typeface="Consolas"/>
              </a:rPr>
              <a:t>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237744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8B89AA"/>
                </a:solidFill>
                <a:latin typeface="Consolas"/>
              </a:rPr>
              <a:t>ChatGPT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7744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8B89AA"/>
                </a:solidFill>
                <a:latin typeface="Consolas"/>
              </a:rPr>
              <a:t>Alexa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37744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8B89AA"/>
                </a:solidFill>
                <a:latin typeface="Consolas"/>
              </a:rPr>
              <a:t>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37744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8B89AA"/>
                </a:solidFill>
                <a:latin typeface="Consolas"/>
              </a:rPr>
              <a:t>Rabbit R1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80360"/>
            <a:ext cx="9921240" cy="502920"/>
          </a:xfrm>
          <a:prstGeom prst="rect">
            <a:avLst/>
          </a:prstGeom>
          <a:solidFill>
            <a:srgbClr val="10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CEBFF"/>
                </a:solidFill>
                <a:latin typeface="Segoe UI"/>
              </a:rPr>
              <a:t>100% 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92608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4ADE80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92608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F87171"/>
                </a:solidFill>
                <a:latin typeface="Segoe UI"/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2608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F87171"/>
                </a:solidFill>
                <a:latin typeface="Segoe UI"/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92608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F87171"/>
                </a:solidFill>
                <a:latin typeface="Segoe UI"/>
              </a:rP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92608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F87171"/>
                </a:solidFill>
                <a:latin typeface="Segoe UI"/>
              </a:rP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4290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CEBFF"/>
                </a:solidFill>
                <a:latin typeface="Segoe UI"/>
              </a:rPr>
              <a:t>Roman English / Urdu native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42900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4ADE80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342900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FFB13A"/>
                </a:solidFill>
                <a:latin typeface="Segoe UI"/>
              </a:rPr>
              <a:t>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42900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FFB13A"/>
                </a:solidFill>
                <a:latin typeface="Segoe UI"/>
              </a:rPr>
              <a:t>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342900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F87171"/>
                </a:solidFill>
                <a:latin typeface="Segoe UI"/>
              </a:rP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42900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F87171"/>
                </a:solidFill>
                <a:latin typeface="Segoe UI"/>
              </a:rPr>
              <a:t>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886200"/>
            <a:ext cx="9921240" cy="502920"/>
          </a:xfrm>
          <a:prstGeom prst="rect">
            <a:avLst/>
          </a:prstGeom>
          <a:solidFill>
            <a:srgbClr val="10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9319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CEBFF"/>
                </a:solidFill>
                <a:latin typeface="Segoe UI"/>
              </a:rPr>
              <a:t>Wearable form factor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393192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B13A"/>
                </a:solidFill>
                <a:latin typeface="Segoe UI"/>
              </a:rPr>
              <a:t>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93192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F87171"/>
                </a:solidFill>
                <a:latin typeface="Segoe UI"/>
              </a:rPr>
              <a:t>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93192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F87171"/>
                </a:solidFill>
                <a:latin typeface="Segoe UI"/>
              </a:rP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393192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F87171"/>
                </a:solidFill>
                <a:latin typeface="Segoe UI"/>
              </a:rP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93192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4ADE80"/>
                </a:solidFill>
                <a:latin typeface="Segoe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4348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CEBFF"/>
                </a:solidFill>
                <a:latin typeface="Segoe UI"/>
              </a:rPr>
              <a:t>Animated avatar / personality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443484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4ADE80"/>
                </a:solidFill>
                <a:latin typeface="Segoe U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443484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FFB13A"/>
                </a:solidFill>
                <a:latin typeface="Segoe UI"/>
              </a:rPr>
              <a:t>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43484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FFB13A"/>
                </a:solidFill>
                <a:latin typeface="Segoe UI"/>
              </a:rPr>
              <a:t>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443484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4ADE80"/>
                </a:solidFill>
                <a:latin typeface="Segoe U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43484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FFB13A"/>
                </a:solidFill>
                <a:latin typeface="Segoe UI"/>
              </a:rPr>
              <a:t>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4892040"/>
            <a:ext cx="9921240" cy="502920"/>
          </a:xfrm>
          <a:prstGeom prst="rect">
            <a:avLst/>
          </a:prstGeom>
          <a:solidFill>
            <a:srgbClr val="10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49377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CEBFF"/>
                </a:solidFill>
                <a:latin typeface="Segoe UI"/>
              </a:rPr>
              <a:t>Voice + tool actions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0" y="493776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4ADE80"/>
                </a:solidFill>
                <a:latin typeface="Segoe U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57800" y="493776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4ADE80"/>
                </a:solidFill>
                <a:latin typeface="Segoe U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493776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4ADE80"/>
                </a:solidFill>
                <a:latin typeface="Segoe U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09560" y="493776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FFB13A"/>
                </a:solidFill>
                <a:latin typeface="Segoe UI"/>
              </a:rPr>
              <a:t>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493776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4ADE80"/>
                </a:solidFill>
                <a:latin typeface="Segoe U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440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CEBFF"/>
                </a:solidFill>
                <a:latin typeface="Segoe UI"/>
              </a:rPr>
              <a:t>No subscription required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31920" y="544068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4ADE80"/>
                </a:solidFill>
                <a:latin typeface="Segoe UI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57800" y="544068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F87171"/>
                </a:solidFill>
                <a:latin typeface="Segoe UI"/>
              </a:rPr>
              <a:t>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544068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F87171"/>
                </a:solidFill>
                <a:latin typeface="Segoe UI"/>
              </a:rPr>
              <a:t>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09560" y="544068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F87171"/>
                </a:solidFill>
                <a:latin typeface="Segoe UI"/>
              </a:rPr>
              <a:t>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544068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FFB13A"/>
                </a:solidFill>
                <a:latin typeface="Segoe UI"/>
              </a:rPr>
              <a:t>○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5897880"/>
            <a:ext cx="9921240" cy="502920"/>
          </a:xfrm>
          <a:prstGeom prst="rect">
            <a:avLst/>
          </a:prstGeom>
          <a:solidFill>
            <a:srgbClr val="10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59436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CEBFF"/>
                </a:solidFill>
                <a:latin typeface="Segoe UI"/>
              </a:rPr>
              <a:t>Open architecture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31920" y="594360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4ADE80"/>
                </a:solidFill>
                <a:latin typeface="Segoe UI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57800" y="594360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F87171"/>
                </a:solidFill>
                <a:latin typeface="Segoe UI"/>
              </a:rPr>
              <a:t>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594360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F87171"/>
                </a:solidFill>
                <a:latin typeface="Segoe UI"/>
              </a:rPr>
              <a:t>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09560" y="594360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F87171"/>
                </a:solidFill>
                <a:latin typeface="Segoe UI"/>
              </a:rPr>
              <a:t>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35440" y="594360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F87171"/>
                </a:solidFill>
                <a:latin typeface="Segoe UI"/>
              </a:rPr>
              <a:t>✗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5878"/>
                </a:solidFill>
                <a:latin typeface="Consolas"/>
              </a:rPr>
              <a:t>✓ fully supported   ○ partial / planned   ✗ not available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5878"/>
                </a:solidFill>
                <a:latin typeface="Consolas"/>
              </a:rPr>
              <a:t>12 / 17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5878"/>
                </a:solidFill>
                <a:latin typeface="Consolas"/>
              </a:rPr>
              <a:t>VISION  ·  Investor Pitch  · 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5FA0"/>
                </a:solidFill>
                <a:latin typeface="Consolas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From laptop to wearable.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3931920"/>
            <a:ext cx="10241280" cy="0"/>
          </a:xfrm>
          <a:prstGeom prst="line">
            <a:avLst/>
          </a:prstGeom>
          <a:ln w="25400">
            <a:solidFill>
              <a:srgbClr val="FF5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914400" y="3749040"/>
            <a:ext cx="365760" cy="365760"/>
          </a:xfrm>
          <a:prstGeom prst="ellipse">
            <a:avLst/>
          </a:prstGeom>
          <a:solidFill>
            <a:srgbClr val="FF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3520440"/>
            <a:ext cx="822960" cy="822960"/>
          </a:xfrm>
          <a:prstGeom prst="ellipse">
            <a:avLst/>
          </a:prstGeom>
          <a:noFill/>
          <a:ln w="31750">
            <a:solidFill>
              <a:srgbClr val="FF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" y="30175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5FA0"/>
                </a:solidFill>
                <a:latin typeface="Consolas"/>
              </a:rPr>
              <a:t>Q2 '26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182880" y="44805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POC complete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82880" y="4937760"/>
            <a:ext cx="2560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8B89AA"/>
                </a:solidFill>
                <a:latin typeface="Segoe UI"/>
              </a:rPr>
              <a:t>Laptop voice agent. We are here.</a:t>
            </a:r>
          </a:p>
        </p:txBody>
      </p:sp>
      <p:sp>
        <p:nvSpPr>
          <p:cNvPr id="11" name="Oval 10"/>
          <p:cNvSpPr/>
          <p:nvPr/>
        </p:nvSpPr>
        <p:spPr>
          <a:xfrm>
            <a:off x="3529584" y="3803904"/>
            <a:ext cx="256032" cy="256032"/>
          </a:xfrm>
          <a:prstGeom prst="ellipse">
            <a:avLst/>
          </a:prstGeom>
          <a:solidFill>
            <a:srgbClr val="3A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30175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3AA5FF"/>
                </a:solidFill>
                <a:latin typeface="Consolas"/>
              </a:rPr>
              <a:t>Q3 '26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44805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Mobile companion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4937760"/>
            <a:ext cx="2560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8B89AA"/>
                </a:solidFill>
                <a:latin typeface="Segoe UI"/>
              </a:rPr>
              <a:t>Android app. Cross-device sync.</a:t>
            </a:r>
          </a:p>
        </p:txBody>
      </p:sp>
      <p:sp>
        <p:nvSpPr>
          <p:cNvPr id="15" name="Oval 14"/>
          <p:cNvSpPr/>
          <p:nvPr/>
        </p:nvSpPr>
        <p:spPr>
          <a:xfrm>
            <a:off x="6089904" y="3803904"/>
            <a:ext cx="256032" cy="256032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30175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A855F7"/>
                </a:solidFill>
                <a:latin typeface="Consolas"/>
              </a:rPr>
              <a:t>Q4 '26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4805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Wearable prototype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4937760"/>
            <a:ext cx="2560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8B89AA"/>
                </a:solidFill>
                <a:latin typeface="Segoe UI"/>
              </a:rPr>
              <a:t>Pi 5 / Coral pendant.</a:t>
            </a:r>
          </a:p>
        </p:txBody>
      </p:sp>
      <p:sp>
        <p:nvSpPr>
          <p:cNvPr id="19" name="Oval 18"/>
          <p:cNvSpPr/>
          <p:nvPr/>
        </p:nvSpPr>
        <p:spPr>
          <a:xfrm>
            <a:off x="8650224" y="3803904"/>
            <a:ext cx="256032" cy="256032"/>
          </a:xfrm>
          <a:prstGeom prst="ellipse">
            <a:avLst/>
          </a:prstGeom>
          <a:solidFill>
            <a:srgbClr val="FFB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175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B13A"/>
                </a:solidFill>
                <a:latin typeface="Consolas"/>
              </a:rPr>
              <a:t>H1 '27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44805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Consumer hardware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4937760"/>
            <a:ext cx="2560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8B89AA"/>
                </a:solidFill>
                <a:latin typeface="Segoe UI"/>
              </a:rPr>
              <a:t>v1 device shipping.</a:t>
            </a:r>
          </a:p>
        </p:txBody>
      </p:sp>
      <p:sp>
        <p:nvSpPr>
          <p:cNvPr id="23" name="Oval 22"/>
          <p:cNvSpPr/>
          <p:nvPr/>
        </p:nvSpPr>
        <p:spPr>
          <a:xfrm>
            <a:off x="11210544" y="3803904"/>
            <a:ext cx="256032" cy="256032"/>
          </a:xfrm>
          <a:prstGeom prst="ellipse">
            <a:avLst/>
          </a:prstGeom>
          <a:solidFill>
            <a:srgbClr val="3A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0" y="30175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3AD4A8"/>
                </a:solidFill>
                <a:latin typeface="Consolas"/>
              </a:rPr>
              <a:t>H2 '27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44805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Scale + ecosystem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4937760"/>
            <a:ext cx="2560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8B89AA"/>
                </a:solidFill>
                <a:latin typeface="Segoe UI"/>
              </a:rPr>
              <a:t>Apps, integrations, API.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5878"/>
                </a:solidFill>
                <a:latin typeface="Consolas"/>
              </a:rPr>
              <a:t>13 / 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5878"/>
                </a:solidFill>
                <a:latin typeface="Consolas"/>
              </a:rPr>
              <a:t>VISION  ·  Investor Pitch  · 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914400"/>
            <a:ext cx="2743200" cy="2743200"/>
          </a:xfrm>
          <a:prstGeom prst="ellipse">
            <a:avLst/>
          </a:prstGeom>
          <a:solidFill>
            <a:srgbClr val="FFB13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5FA0"/>
                </a:solidFill>
                <a:latin typeface="Consolas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How we earn.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3611880" cy="3291840"/>
          </a:xfrm>
          <a:prstGeom prst="roundRect">
            <a:avLst>
              <a:gd name="adj" fmla="val 6000"/>
            </a:avLst>
          </a:prstGeom>
          <a:solidFill>
            <a:srgbClr val="140F2A"/>
          </a:solidFill>
          <a:ln w="19050">
            <a:solidFill>
              <a:srgbClr val="FF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834640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5FA0"/>
                </a:solidFill>
                <a:latin typeface="Consolas"/>
              </a:rPr>
              <a:t>HARDWARE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383280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Segoe UI"/>
              </a:rPr>
              <a:t>$299</a:t>
            </a:r>
            <a:r>
              <a:rPr sz="1800" b="0">
                <a:solidFill>
                  <a:srgbClr val="8B89AA"/>
                </a:solidFill>
                <a:latin typeface="Segoe UI"/>
              </a:rPr>
              <a:t>/device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754880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ECEBFF"/>
                </a:solidFill>
                <a:latin typeface="Segoe UI"/>
              </a:rPr>
              <a:t>One-time. Wearable. Margin ~40%.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468880"/>
            <a:ext cx="3611880" cy="3291840"/>
          </a:xfrm>
          <a:prstGeom prst="roundRect">
            <a:avLst>
              <a:gd name="adj" fmla="val 6000"/>
            </a:avLst>
          </a:prstGeom>
          <a:solidFill>
            <a:srgbClr val="140F2A"/>
          </a:solidFill>
          <a:ln w="19050">
            <a:solidFill>
              <a:srgbClr val="3AA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834640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AA5FF"/>
                </a:solidFill>
                <a:latin typeface="Consolas"/>
              </a:rPr>
              <a:t>PREMIUM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383280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Segoe UI"/>
              </a:rPr>
              <a:t>$9</a:t>
            </a:r>
            <a:r>
              <a:rPr sz="1800" b="0">
                <a:solidFill>
                  <a:srgbClr val="8B89AA"/>
                </a:solidFill>
                <a:latin typeface="Segoe UI"/>
              </a:rPr>
              <a:t>/month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4754880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ECEBFF"/>
                </a:solidFill>
                <a:latin typeface="Segoe UI"/>
              </a:rPr>
              <a:t>Premium voices, larger models, optional cloud sync.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468880"/>
            <a:ext cx="3611880" cy="3291840"/>
          </a:xfrm>
          <a:prstGeom prst="roundRect">
            <a:avLst>
              <a:gd name="adj" fmla="val 6000"/>
            </a:avLst>
          </a:prstGeom>
          <a:solidFill>
            <a:srgbClr val="140F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2834640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A855F7"/>
                </a:solidFill>
                <a:latin typeface="Consolas"/>
              </a:rPr>
              <a:t>ENTERPRISE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383280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Segoe UI"/>
              </a:rPr>
              <a:t>$99</a:t>
            </a:r>
            <a:r>
              <a:rPr sz="1800" b="0">
                <a:solidFill>
                  <a:srgbClr val="8B89AA"/>
                </a:solidFill>
                <a:latin typeface="Segoe UI"/>
              </a:rPr>
              <a:t>/seat/mo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754880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ECEBFF"/>
                </a:solidFill>
                <a:latin typeface="Segoe UI"/>
              </a:rPr>
              <a:t>Teams. HIPAA, GDPR-clean by default. SSO, admin.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B89AA"/>
                </a:solidFill>
                <a:latin typeface="Consolas"/>
              </a:rPr>
              <a:t>TAM (private AI assistants + wearable AI):  ~ $2 B by 2028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5878"/>
                </a:solidFill>
                <a:latin typeface="Consolas"/>
              </a:rPr>
              <a:t>14 / 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5878"/>
                </a:solidFill>
                <a:latin typeface="Consolas"/>
              </a:rPr>
              <a:t>VISION  ·  Investor Pitch  · 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58200" y="4343400"/>
            <a:ext cx="3200400" cy="3200400"/>
          </a:xfrm>
          <a:prstGeom prst="ellipse">
            <a:avLst/>
          </a:prstGeom>
          <a:solidFill>
            <a:srgbClr val="FF5FA0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5FA0"/>
                </a:solidFill>
                <a:latin typeface="Consolas"/>
              </a:rPr>
              <a:t>WHO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Why 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6858000" cy="3657600"/>
          </a:xfrm>
          <a:prstGeom prst="roundRect">
            <a:avLst>
              <a:gd name="adj" fmla="val 4000"/>
            </a:avLst>
          </a:prstGeom>
          <a:solidFill>
            <a:srgbClr val="140F2A"/>
          </a:solidFill>
          <a:ln w="19050">
            <a:solidFill>
              <a:srgbClr val="FF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2743200"/>
            <a:ext cx="1280160" cy="1280160"/>
          </a:xfrm>
          <a:prstGeom prst="ellipse">
            <a:avLst/>
          </a:prstGeom>
          <a:solidFill>
            <a:srgbClr val="FF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74320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Segoe UI"/>
              </a:rPr>
              <a:t>AA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74320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Syed Adnan 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32918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B89AA"/>
                </a:solidFill>
                <a:latin typeface="Segoe UI"/>
              </a:rPr>
              <a:t>Founder · Builder · Karachi-based developer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29768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ECEBFF"/>
                </a:solidFill>
                <a:latin typeface="Segoe UI"/>
              </a:rPr>
              <a:t>Built the entire POC solo on a 4 GB GPU laptop. Native multilingual perspective: the Roman English / Urdu support is something OpenAI and Alexa underserve.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4688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5FA0"/>
                </a:solidFill>
                <a:latin typeface="Consolas"/>
              </a:rPr>
              <a:t>POST-SEED HIRES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1089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Hardware engineer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40156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89AA"/>
                </a:solidFill>
                <a:latin typeface="Segoe UI"/>
              </a:rPr>
              <a:t>edge AI device, custom PCB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82219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ML researcher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114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89AA"/>
                </a:solidFill>
                <a:latin typeface="Segoe UI"/>
              </a:rPr>
              <a:t>fine-tuning small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53542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Industrial designer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82803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89AA"/>
                </a:solidFill>
                <a:latin typeface="Segoe UI"/>
              </a:rPr>
              <a:t>wearable form factor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524865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Mobile developer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554126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89AA"/>
                </a:solidFill>
                <a:latin typeface="Segoe UI"/>
              </a:rPr>
              <a:t>Android companion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5878"/>
                </a:solidFill>
                <a:latin typeface="Consolas"/>
              </a:rPr>
              <a:t>15 / 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5878"/>
                </a:solidFill>
                <a:latin typeface="Consolas"/>
              </a:rPr>
              <a:t>VISION  ·  Investor Pitch  · 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97480" y="228600"/>
            <a:ext cx="6858000" cy="6858000"/>
          </a:xfrm>
          <a:prstGeom prst="ellipse">
            <a:avLst/>
          </a:prstGeom>
          <a:solidFill>
            <a:srgbClr val="FF5FA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069080" y="1600200"/>
            <a:ext cx="4114800" cy="4114800"/>
          </a:xfrm>
          <a:prstGeom prst="ellipse">
            <a:avLst/>
          </a:prstGeom>
          <a:solidFill>
            <a:srgbClr val="FFB3D4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5FA0"/>
                </a:solidFill>
                <a:latin typeface="Consolas"/>
              </a:rPr>
              <a:t>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0584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Help us build the second brain.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>
                <a:solidFill>
                  <a:srgbClr val="FFFFFF"/>
                </a:solidFill>
                <a:latin typeface="Segoe UI"/>
              </a:rPr>
              <a:t>$250K</a:t>
            </a:r>
            <a:r>
              <a:rPr sz="2200" b="0">
                <a:solidFill>
                  <a:srgbClr val="8B89AA"/>
                </a:solidFill>
                <a:latin typeface="Segoe UI"/>
              </a:rPr>
              <a:t>  seed  ·  18 months runway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5FA0"/>
                </a:solidFill>
                <a:latin typeface="Consolas"/>
              </a:rPr>
              <a:t>USE OF FUNDS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5FA0"/>
                </a:solidFill>
                <a:latin typeface="Consolas"/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5029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CEBFF"/>
                </a:solidFill>
                <a:latin typeface="Segoe UI"/>
              </a:rPr>
              <a:t>Hardware prototype  ·  Pi 5, custom PCB, enclosures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3AA5FF"/>
                </a:solidFill>
                <a:latin typeface="Consolas"/>
              </a:rPr>
              <a:t>35%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54406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CEBFF"/>
                </a:solidFill>
                <a:latin typeface="Segoe UI"/>
              </a:rPr>
              <a:t>Engineering  ·  1 hardware, 1 ML, founder living costs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521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A855F7"/>
                </a:solidFill>
                <a:latin typeface="Consolas"/>
              </a:rPr>
              <a:t>15%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585216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CEBFF"/>
                </a:solidFill>
                <a:latin typeface="Segoe UI"/>
              </a:rPr>
              <a:t>Industrial design + branding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26364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B13A"/>
                </a:solidFill>
                <a:latin typeface="Consolas"/>
              </a:rPr>
              <a:t>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626364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CEBFF"/>
                </a:solidFill>
                <a:latin typeface="Segoe UI"/>
              </a:rPr>
              <a:t>Reserve / runway buffer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5878"/>
                </a:solidFill>
                <a:latin typeface="Consolas"/>
              </a:rPr>
              <a:t>16 / 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5878"/>
                </a:solidFill>
                <a:latin typeface="Consolas"/>
              </a:rPr>
              <a:t>VISION  ·  Investor Pitch  · 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26080" y="0"/>
            <a:ext cx="6400800" cy="6400800"/>
          </a:xfrm>
          <a:prstGeom prst="ellipse">
            <a:avLst/>
          </a:prstGeom>
          <a:solidFill>
            <a:srgbClr val="FF5FA0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297680" y="1371600"/>
            <a:ext cx="3657600" cy="3657600"/>
          </a:xfrm>
          <a:prstGeom prst="ellipse">
            <a:avLst/>
          </a:prstGeom>
          <a:solidFill>
            <a:srgbClr val="FFB3D4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4800600"/>
            <a:ext cx="2286000" cy="2286000"/>
          </a:xfrm>
          <a:prstGeom prst="ellipse">
            <a:avLst/>
          </a:prstGeom>
          <a:solidFill>
            <a:srgbClr val="3AA5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0" y="-182880"/>
            <a:ext cx="1828800" cy="1828800"/>
          </a:xfrm>
          <a:prstGeom prst="ellipse">
            <a:avLst/>
          </a:prstGeom>
          <a:solidFill>
            <a:srgbClr val="A855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>
                <a:solidFill>
                  <a:srgbClr val="FFFFFF"/>
                </a:solidFill>
                <a:latin typeface="Segoe UI"/>
              </a:rPr>
              <a:t>Let's build it together.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4206240"/>
            <a:ext cx="1463040" cy="0"/>
          </a:xfrm>
          <a:prstGeom prst="line">
            <a:avLst/>
          </a:prstGeom>
          <a:ln w="38100">
            <a:solidFill>
              <a:srgbClr val="FF5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4480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ECEBFF"/>
                </a:solidFill>
                <a:latin typeface="Segoe UI"/>
              </a:rPr>
              <a:t>Syed Adnan Ali  ·  Founder  ·  syedadnanalibhatti@gmail.com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3AA5FF"/>
                </a:solidFill>
                <a:latin typeface="Consolas"/>
              </a:rPr>
              <a:t>GitHub:  github.com/SyedAdnanAli13143/Talk-to-your-PC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B89AA"/>
                </a:solidFill>
                <a:latin typeface="Consolas"/>
              </a:rPr>
              <a:t>Karachi  ·  Pakistan  · 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5878"/>
                </a:solidFill>
                <a:latin typeface="Consolas"/>
              </a:rPr>
              <a:t>VISION  ·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 — Investor Pitch</dc:title>
  <dc:subject>A private, multilingual, wearable second brain</dc:subject>
  <dc:creator>Syed Adnan Ali</dc:creator>
  <cp:keywords/>
  <dc:description>Generated by pitch.py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